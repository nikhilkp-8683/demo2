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2CAD-1298-A063-6D60-97B5AB571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AD230-E9B6-5D00-CAFE-B3A215262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EB817-C733-7CAB-2DE9-BB5E9396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694A4-8AC5-A2A1-6C01-267056269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C6343-861B-C13D-4E96-3EE65270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43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9C2C-6D90-0B3E-0A8E-ABFC41F6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C9C24-A9F7-A341-3F8C-3D75EA845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C01B5-BEEC-7CA1-5C53-11FC4D86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90D80-8F38-1FF8-F7DB-51C8D2043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1D22B-2451-46E3-669D-BF24C84E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29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AA7E-A994-CE01-37B6-0C4E932C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BE341-6D3B-BED8-3415-530AA1744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287A7-77EC-D76E-5B72-96812982A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8069C-4A4E-E911-4381-50B27A5FC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872DE-BD92-B304-7256-E4EF473E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66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8A80F-C964-F052-7F26-B665E765C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606F8-AFED-6726-6C87-79DC81932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9E8DF-39A2-81BE-4889-39502A85A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47B7A-A6C7-96AE-4395-6E7C8C22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59745-98F2-EB29-7CAF-A3E95F6C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96ECF-3C20-B34E-0826-122EA6CB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73A5-F301-EA6C-6145-E8EB0AFB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F05B6-0537-E7CE-4012-9CF699C77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A039B-1772-74CF-B765-2C0F6EC20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259342-43EC-D84E-5504-62CD3A889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CD37-F581-F77F-1183-25947A6E2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F7C51D-BC88-7624-B701-4EAF50AF7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A43386-7675-8DD9-28F4-BC54AAC5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FE365-504A-21DA-CEAC-CFBD93A4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01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5BB2-E026-591C-1796-188750E5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B88EC-E764-0C59-9150-C7887B4E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B7A58-523F-36A1-72F6-085A655EB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A6BEB-3C25-30DC-B05A-35AB9F28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293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990A2-BE7A-FCC9-395F-AC4783DF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BFF36-DE48-06DA-495E-2B90D633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70F64-86B6-EC59-D0E2-72EBC4FD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15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57FA4-9F87-C39D-11ED-AE6E14BF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98ADC-6662-B64A-0B28-97D424094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2F2A6-E56C-6646-5BBB-FEA2CCCDF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8D54E-324D-E95A-1554-9EC06EF8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E5BEB-ADBE-B397-AB0A-5A86E3F7E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D8B87-D6A9-D236-A6DB-17F28C36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36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5CE3-597F-7BCE-528D-EFA531941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E8BF2-0042-7E99-83CB-D92E88FFE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C0E3A-B8CC-1B19-0616-465B8B2F6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631C3-BB5C-B80D-AF5E-20F1D885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ACB2E-7893-4380-31A2-041CBF08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B7009-17EE-9C6D-88C0-816FCF47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2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E349-76F7-E780-6601-A6A94CD6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917F1-101A-7D11-E00B-340B46B9B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E5B5F-F7B4-635F-1811-D5231A10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428B6-D450-850A-A533-EF3E2BE9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A30A4-AAB6-F2B1-C461-D239901D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23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751721-C584-7692-F4B4-0018681C3C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6C0AD-09DA-52F1-07F1-DCC4414AA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D5F17-ADD1-681D-2B80-71F1BE3A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4A135-737D-E586-8FAA-A21CAB546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A60B9-37AB-026E-C5C5-86EE4F76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67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CCC104-DDCE-AE5E-24CE-A776822C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FA683-8FCE-ED6E-BFDA-5D9B4895F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D4A90-094D-C1B0-5339-7E6363686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3E172-B6AC-4B1B-95A6-A60C59F44C8E}" type="datetimeFigureOut">
              <a:rPr lang="en-IN" smtClean="0"/>
              <a:t>15-01-2025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62142-167C-813E-8A30-089754938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D8E31-3F46-4EE1-9432-B816AB098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147B5-B2B5-4747-B505-69089BE2B5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24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Z-Test | Definition, Formula &amp; Example ...">
            <a:extLst>
              <a:ext uri="{FF2B5EF4-FFF2-40B4-BE49-F238E27FC236}">
                <a16:creationId xmlns:a16="http://schemas.microsoft.com/office/drawing/2014/main" id="{E258C50E-C812-D2EC-D960-F5EB67AE0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11103"/>
            <a:ext cx="1990725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590078-CA7B-B29D-F84D-E805282CD17E}"/>
              </a:ext>
            </a:extLst>
          </p:cNvPr>
          <p:cNvCxnSpPr>
            <a:cxnSpLocks/>
          </p:cNvCxnSpPr>
          <p:nvPr/>
        </p:nvCxnSpPr>
        <p:spPr>
          <a:xfrm>
            <a:off x="0" y="663433"/>
            <a:ext cx="12192000" cy="0"/>
          </a:xfrm>
          <a:prstGeom prst="line">
            <a:avLst/>
          </a:prstGeom>
          <a:ln w="57150"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B6ED62-8CA3-0705-CE63-3DDF82AD806A}"/>
              </a:ext>
            </a:extLst>
          </p:cNvPr>
          <p:cNvSpPr txBox="1"/>
          <p:nvPr/>
        </p:nvSpPr>
        <p:spPr>
          <a:xfrm>
            <a:off x="88490" y="78658"/>
            <a:ext cx="7030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rial Rounded MT Bold" panose="020F0704030504030204" pitchFamily="34" charset="0"/>
              </a:rPr>
              <a:t>Mathematical Intuition of Z-Test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0ADFB-B9CF-D4D0-3063-5B3CF5B7D25C}"/>
              </a:ext>
            </a:extLst>
          </p:cNvPr>
          <p:cNvSpPr txBox="1"/>
          <p:nvPr/>
        </p:nvSpPr>
        <p:spPr>
          <a:xfrm>
            <a:off x="0" y="776748"/>
            <a:ext cx="119953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Question:-</a:t>
            </a:r>
          </a:p>
          <a:p>
            <a:endParaRPr lang="en-IN" dirty="0"/>
          </a:p>
          <a:p>
            <a:r>
              <a:rPr lang="en-IN" dirty="0"/>
              <a:t>The average height of all resident in a city is 168 cm with a population std 3.9. A doctor believe that the mean to be different . The measured height of 36 individual and found the average to tb 169.5 cm.</a:t>
            </a:r>
          </a:p>
          <a:p>
            <a:endParaRPr lang="en-IN" dirty="0"/>
          </a:p>
          <a:p>
            <a:r>
              <a:rPr lang="en-IN" b="1" dirty="0"/>
              <a:t>Null Hypothesis :- </a:t>
            </a:r>
            <a:r>
              <a:rPr lang="en-IN" dirty="0"/>
              <a:t>The average height of resident in a city is 168 cm.</a:t>
            </a:r>
          </a:p>
          <a:p>
            <a:r>
              <a:rPr lang="en-IN" b="1" dirty="0"/>
              <a:t>Alternative Hypothesis :- </a:t>
            </a:r>
            <a:r>
              <a:rPr lang="en-IN" dirty="0"/>
              <a:t>The average height of resident in a city is not equal to 168 cm.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ED9CE-47D7-843F-5E66-32666A75442C}"/>
              </a:ext>
            </a:extLst>
          </p:cNvPr>
          <p:cNvSpPr txBox="1"/>
          <p:nvPr/>
        </p:nvSpPr>
        <p:spPr>
          <a:xfrm>
            <a:off x="9301316" y="2438400"/>
            <a:ext cx="2782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Population Mean = 168 cm</a:t>
            </a:r>
          </a:p>
          <a:p>
            <a:r>
              <a:rPr lang="en-IN" dirty="0"/>
              <a:t>Population std. = 3.9</a:t>
            </a:r>
          </a:p>
          <a:p>
            <a:r>
              <a:rPr lang="en-IN" dirty="0"/>
              <a:t>No. of samples = 36</a:t>
            </a:r>
          </a:p>
          <a:p>
            <a:r>
              <a:rPr lang="en-IN" dirty="0"/>
              <a:t>Sample mean = 169.5 cm</a:t>
            </a:r>
          </a:p>
        </p:txBody>
      </p:sp>
      <p:pic>
        <p:nvPicPr>
          <p:cNvPr id="1026" name="Picture 2" descr="Z-test - Wikipedia">
            <a:extLst>
              <a:ext uri="{FF2B5EF4-FFF2-40B4-BE49-F238E27FC236}">
                <a16:creationId xmlns:a16="http://schemas.microsoft.com/office/drawing/2014/main" id="{70C9F933-08F8-4065-33C4-5716EA297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085" y="3904201"/>
            <a:ext cx="5323915" cy="295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0EFBDE-9922-6DBB-BADC-B9538ED5E8A6}"/>
              </a:ext>
            </a:extLst>
          </p:cNvPr>
          <p:cNvSpPr txBox="1"/>
          <p:nvPr/>
        </p:nvSpPr>
        <p:spPr>
          <a:xfrm>
            <a:off x="88490" y="2808073"/>
            <a:ext cx="6341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Confidence Interval = 0.95</a:t>
            </a:r>
          </a:p>
          <a:p>
            <a:r>
              <a:rPr lang="en-IN" dirty="0"/>
              <a:t>Level of Significance(Alpha) = 1 - 0.95 = 0.05</a:t>
            </a:r>
          </a:p>
          <a:p>
            <a:endParaRPr lang="en-IN" dirty="0"/>
          </a:p>
          <a:p>
            <a:r>
              <a:rPr lang="en-IN" dirty="0"/>
              <a:t>Decision Boundary = 1 – 0.025 = 0.9750 = +1.96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B7B9A3-71F0-3AAC-7A0F-60D860902317}"/>
              </a:ext>
            </a:extLst>
          </p:cNvPr>
          <p:cNvSpPr txBox="1"/>
          <p:nvPr/>
        </p:nvSpPr>
        <p:spPr>
          <a:xfrm>
            <a:off x="88490" y="4008402"/>
            <a:ext cx="656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Z-Test value fall b/w -1.96 to +1.96 we fail to reject the null hypothesis.</a:t>
            </a:r>
          </a:p>
        </p:txBody>
      </p:sp>
      <p:pic>
        <p:nvPicPr>
          <p:cNvPr id="1030" name="Picture 6" descr="Everything about Z test. Hypothesis testing comes under… | by Abhishek Jain  | Medium">
            <a:extLst>
              <a:ext uri="{FF2B5EF4-FFF2-40B4-BE49-F238E27FC236}">
                <a16:creationId xmlns:a16="http://schemas.microsoft.com/office/drawing/2014/main" id="{C97C2551-1A77-5455-CADD-CA3298599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4606174"/>
            <a:ext cx="3048380" cy="103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7EBE31-A561-167D-C8FE-A14F78B480E2}"/>
              </a:ext>
            </a:extLst>
          </p:cNvPr>
          <p:cNvSpPr txBox="1"/>
          <p:nvPr/>
        </p:nvSpPr>
        <p:spPr>
          <a:xfrm>
            <a:off x="88490" y="5668279"/>
            <a:ext cx="6567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Conclusion:- If Z-Test is &lt;-1.96 or &gt;+1.96 Reject the Null Hypothesis.</a:t>
            </a:r>
          </a:p>
          <a:p>
            <a:r>
              <a:rPr lang="en-IN" dirty="0"/>
              <a:t>Here we </a:t>
            </a:r>
            <a:r>
              <a:rPr lang="en-IN" b="1" dirty="0"/>
              <a:t>Reject the Null Hypothesis</a:t>
            </a:r>
            <a:r>
              <a:rPr lang="en-IN" dirty="0"/>
              <a:t> and Accept the Alternative Hypothesis.</a:t>
            </a:r>
          </a:p>
          <a:p>
            <a:r>
              <a:rPr lang="en-IN" b="1" dirty="0"/>
              <a:t>The average height of resident in a city is not equal to 168 cm.</a:t>
            </a:r>
          </a:p>
        </p:txBody>
      </p:sp>
    </p:spTree>
    <p:extLst>
      <p:ext uri="{BB962C8B-B14F-4D97-AF65-F5344CB8AC3E}">
        <p14:creationId xmlns:p14="http://schemas.microsoft.com/office/powerpoint/2010/main" val="52316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6F7D8-C6E3-085A-7C49-0BD91EDD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-Test | Definition, Formula &amp; Calculation - Lesson | Study.com">
            <a:extLst>
              <a:ext uri="{FF2B5EF4-FFF2-40B4-BE49-F238E27FC236}">
                <a16:creationId xmlns:a16="http://schemas.microsoft.com/office/drawing/2014/main" id="{5B3AB7A1-E7AF-5D97-85D4-5D8149464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16" y="4600421"/>
            <a:ext cx="1948938" cy="118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C3E96B-098B-0A5A-BEE0-20E567B81B2D}"/>
              </a:ext>
            </a:extLst>
          </p:cNvPr>
          <p:cNvCxnSpPr>
            <a:cxnSpLocks/>
          </p:cNvCxnSpPr>
          <p:nvPr/>
        </p:nvCxnSpPr>
        <p:spPr>
          <a:xfrm>
            <a:off x="0" y="663433"/>
            <a:ext cx="12192000" cy="0"/>
          </a:xfrm>
          <a:prstGeom prst="line">
            <a:avLst/>
          </a:prstGeom>
          <a:ln w="57150"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D3D4B4-FFA9-D856-99BD-ABC696A885E8}"/>
              </a:ext>
            </a:extLst>
          </p:cNvPr>
          <p:cNvSpPr txBox="1"/>
          <p:nvPr/>
        </p:nvSpPr>
        <p:spPr>
          <a:xfrm>
            <a:off x="88490" y="78658"/>
            <a:ext cx="7030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rial Rounded MT Bold" panose="020F0704030504030204" pitchFamily="34" charset="0"/>
              </a:rPr>
              <a:t>Mathematical Intuition of T-Test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73062-6EB1-F034-F3C9-5A41A60AC996}"/>
              </a:ext>
            </a:extLst>
          </p:cNvPr>
          <p:cNvSpPr txBox="1"/>
          <p:nvPr/>
        </p:nvSpPr>
        <p:spPr>
          <a:xfrm>
            <a:off x="0" y="776748"/>
            <a:ext cx="119953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Question:-</a:t>
            </a:r>
            <a:endParaRPr lang="en-IN" dirty="0"/>
          </a:p>
          <a:p>
            <a:r>
              <a:rPr lang="en-IN" dirty="0"/>
              <a:t>In Population the average IQ is 100. A team of Researchers want to test a new medication to see if it has either a positive or negative after on intelligence or no effect at all. A sample of 30 participants who have taken the medication has a mean of 140 with standard deviation of 20. Did the medication effect intelligence.</a:t>
            </a:r>
          </a:p>
          <a:p>
            <a:endParaRPr lang="en-IN" dirty="0"/>
          </a:p>
          <a:p>
            <a:r>
              <a:rPr lang="en-IN" b="1" dirty="0"/>
              <a:t>Null Hypothesis :- </a:t>
            </a:r>
            <a:r>
              <a:rPr lang="en-IN" dirty="0"/>
              <a:t>Medication not effect intelligence</a:t>
            </a:r>
            <a:r>
              <a:rPr lang="en-IN" b="1" dirty="0"/>
              <a:t>.</a:t>
            </a:r>
          </a:p>
          <a:p>
            <a:r>
              <a:rPr lang="en-IN" b="1" dirty="0"/>
              <a:t>Alternative Hypothesis :-</a:t>
            </a:r>
            <a:r>
              <a:rPr lang="en-IN" dirty="0"/>
              <a:t>Medication effect intelligence</a:t>
            </a:r>
            <a:r>
              <a:rPr lang="en-IN" b="1" dirty="0"/>
              <a:t>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23B14F-01E8-10C6-DA1E-3B15D69DEBC5}"/>
              </a:ext>
            </a:extLst>
          </p:cNvPr>
          <p:cNvSpPr txBox="1"/>
          <p:nvPr/>
        </p:nvSpPr>
        <p:spPr>
          <a:xfrm>
            <a:off x="9301316" y="2438400"/>
            <a:ext cx="2782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Population Mean = 100</a:t>
            </a:r>
          </a:p>
          <a:p>
            <a:r>
              <a:rPr lang="en-IN" dirty="0"/>
              <a:t>sample std. = 20</a:t>
            </a:r>
          </a:p>
          <a:p>
            <a:r>
              <a:rPr lang="en-IN" dirty="0"/>
              <a:t>No. of samples = 30</a:t>
            </a:r>
          </a:p>
          <a:p>
            <a:r>
              <a:rPr lang="en-IN" dirty="0"/>
              <a:t>Sample mean = 140</a:t>
            </a:r>
          </a:p>
        </p:txBody>
      </p:sp>
      <p:pic>
        <p:nvPicPr>
          <p:cNvPr id="1026" name="Picture 2" descr="Z-test - Wikipedia">
            <a:extLst>
              <a:ext uri="{FF2B5EF4-FFF2-40B4-BE49-F238E27FC236}">
                <a16:creationId xmlns:a16="http://schemas.microsoft.com/office/drawing/2014/main" id="{EBB24D88-6A18-F82F-4656-87ADBC8F4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085" y="3904201"/>
            <a:ext cx="5323915" cy="295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E3FFE0-4839-ECBD-6CB2-04EF51B5E375}"/>
              </a:ext>
            </a:extLst>
          </p:cNvPr>
          <p:cNvSpPr txBox="1"/>
          <p:nvPr/>
        </p:nvSpPr>
        <p:spPr>
          <a:xfrm>
            <a:off x="88490" y="2808073"/>
            <a:ext cx="6341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Confidence Interval = 0.95</a:t>
            </a:r>
          </a:p>
          <a:p>
            <a:r>
              <a:rPr lang="en-IN" dirty="0"/>
              <a:t>Level of Significance(Alpha) = 1 - 0.95 = 0.05</a:t>
            </a:r>
          </a:p>
          <a:p>
            <a:r>
              <a:rPr lang="en-IN" dirty="0"/>
              <a:t>Degree of freedom = n-1 = 29</a:t>
            </a:r>
          </a:p>
          <a:p>
            <a:r>
              <a:rPr lang="en-IN" dirty="0"/>
              <a:t>Decision Boundary = 2.045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E6484F-90E7-5921-BE1A-A18685A7D789}"/>
              </a:ext>
            </a:extLst>
          </p:cNvPr>
          <p:cNvSpPr txBox="1"/>
          <p:nvPr/>
        </p:nvSpPr>
        <p:spPr>
          <a:xfrm>
            <a:off x="88490" y="4008402"/>
            <a:ext cx="656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Z-Test value fall b/w -2.045 to +2.045 we fail to reject the null hypothesis.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6192FA-309D-4B71-6681-31D16447AC33}"/>
              </a:ext>
            </a:extLst>
          </p:cNvPr>
          <p:cNvSpPr txBox="1"/>
          <p:nvPr/>
        </p:nvSpPr>
        <p:spPr>
          <a:xfrm>
            <a:off x="88490" y="5668279"/>
            <a:ext cx="6685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Conclusion:- If T-Test is &lt;-2.045 or &gt;+2.045 Reject the Null Hypothesis.</a:t>
            </a:r>
          </a:p>
          <a:p>
            <a:r>
              <a:rPr lang="en-IN" dirty="0"/>
              <a:t>Here we </a:t>
            </a:r>
            <a:r>
              <a:rPr lang="en-IN" b="1" dirty="0"/>
              <a:t>Reject the Null Hypothesis</a:t>
            </a:r>
            <a:r>
              <a:rPr lang="en-IN" dirty="0"/>
              <a:t> and Accept the Alternative Hypothesis.</a:t>
            </a:r>
          </a:p>
          <a:p>
            <a:r>
              <a:rPr lang="en-IN" b="1" dirty="0"/>
              <a:t>Medication effect intelligence.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FDE067D-7ABD-3D92-8648-9688EFB07F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30" t="44183" b="18131"/>
          <a:stretch/>
        </p:blipFill>
        <p:spPr bwMode="auto">
          <a:xfrm>
            <a:off x="2367061" y="4456593"/>
            <a:ext cx="3867709" cy="113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31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374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singh</dc:creator>
  <cp:lastModifiedBy>prashant singh</cp:lastModifiedBy>
  <cp:revision>1</cp:revision>
  <dcterms:created xsi:type="dcterms:W3CDTF">2025-01-15T06:01:20Z</dcterms:created>
  <dcterms:modified xsi:type="dcterms:W3CDTF">2025-01-15T13:20:41Z</dcterms:modified>
</cp:coreProperties>
</file>